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FF"/>
                </a:solidFill>
                <a:latin typeface="Consolas"/>
              </a:defRPr>
            </a:pPr>
            <a:r>
              <a:t>CODEALPHA CYBER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E8EDF5"/>
                </a:solidFill>
                <a:latin typeface="Calibri"/>
              </a:defRPr>
            </a:pPr>
            <a:r>
              <a:t>Phishing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7200" b="1">
                <a:solidFill>
                  <a:srgbClr val="00E5FF"/>
                </a:solidFill>
                <a:latin typeface="Calibri"/>
              </a:defRPr>
            </a:pPr>
            <a:r>
              <a:t>Awareness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47D8C"/>
                </a:solidFill>
                <a:latin typeface="Calibri"/>
              </a:defRPr>
            </a:pPr>
            <a:r>
              <a:t>Recognizing and Defending Against Phishing Attacks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7280"/>
                </a:solidFill>
                <a:latin typeface="Consolas"/>
              </a:defRPr>
            </a:pPr>
            <a:r>
              <a:t>Reindolf Kwame Adusei Appiah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FF"/>
                </a:solidFill>
                <a:latin typeface="Consolas"/>
              </a:defRPr>
            </a:pPr>
            <a:r>
              <a:t>THE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E8EDF5"/>
                </a:solidFill>
                <a:latin typeface="Calibri"/>
              </a:defRPr>
            </a:pPr>
            <a:r>
              <a:t>What Is Phishing?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560320"/>
            <a:ext cx="38100" cy="7315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47D8C"/>
                </a:solidFill>
                <a:latin typeface="Calibri"/>
              </a:defRPr>
            </a:pPr>
            <a:r>
              <a:t>A phishing attack tricks someone into handing over sensitive information by pretending to be a trustworthy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566160"/>
            <a:ext cx="38100" cy="731520"/>
          </a:xfrm>
          <a:prstGeom prst="rect">
            <a:avLst/>
          </a:prstGeom>
          <a:solidFill>
            <a:srgbClr val="1A2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3566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47D8C"/>
                </a:solidFill>
                <a:latin typeface="Calibri"/>
              </a:defRPr>
            </a:pPr>
            <a:r>
              <a:t>It can arrive as an email, a text message, a phone call, or a fake website that looks completely legitimate.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38100" cy="7315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E8EDF5"/>
                </a:solidFill>
                <a:latin typeface="Calibri"/>
              </a:defRPr>
            </a:pPr>
            <a:r>
              <a:t>Phishing doesn't rely on breaking technology. It relies on manipulating people.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3D5A"/>
                </a:solidFill>
                <a:latin typeface="Consolas"/>
              </a:defRPr>
            </a:pPr>
            <a:r>
              <a:t>EMAIL RED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E8EDF5"/>
                </a:solidFill>
                <a:latin typeface="Calibri"/>
              </a:defRPr>
            </a:pPr>
            <a:r>
              <a:t>How to Spot a Phishing Email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43000" y="2240280"/>
            <a:ext cx="365760" cy="365760"/>
          </a:xfrm>
          <a:prstGeom prst="roundRect">
            <a:avLst/>
          </a:prstGeom>
          <a:solidFill>
            <a:srgbClr val="2A1015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21284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3D5A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Sender Mismatch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47D8C"/>
                </a:solidFill>
                <a:latin typeface="Calibri"/>
              </a:defRPr>
            </a:pPr>
            <a:r>
              <a:t>Display name looks real, but the actual address is slightly off.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484632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29400" y="2240280"/>
            <a:ext cx="365760" cy="365760"/>
          </a:xfrm>
          <a:prstGeom prst="roundRect">
            <a:avLst/>
          </a:prstGeom>
          <a:solidFill>
            <a:srgbClr val="2A1015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3D5A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94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Urgency &amp;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5603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47D8C"/>
                </a:solidFill>
                <a:latin typeface="Calibri"/>
              </a:defRPr>
            </a:pPr>
            <a:r>
              <a:t>"Your account closes in 24 hours" stops you thinking clearly.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74720"/>
            <a:ext cx="484632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43000" y="3703320"/>
            <a:ext cx="365760" cy="365760"/>
          </a:xfrm>
          <a:prstGeom prst="roundRect">
            <a:avLst/>
          </a:prstGeom>
          <a:solidFill>
            <a:srgbClr val="2A1015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6758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3D5A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57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Suspicious Links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0233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47D8C"/>
                </a:solidFill>
                <a:latin typeface="Calibri"/>
              </a:defRPr>
            </a:pPr>
            <a:r>
              <a:t>Hover before clicking: visible text rarely matches real destination.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474720"/>
            <a:ext cx="484632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29400" y="3703320"/>
            <a:ext cx="365760" cy="365760"/>
          </a:xfrm>
          <a:prstGeom prst="roundRect">
            <a:avLst/>
          </a:prstGeom>
          <a:solidFill>
            <a:srgbClr val="2A1015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36758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3D5A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657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Spoofed Branding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0233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47D8C"/>
                </a:solidFill>
                <a:latin typeface="Calibri"/>
              </a:defRPr>
            </a:pPr>
            <a:r>
              <a:t>Logos and colors copied from a real company with small inconsistencies.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937760"/>
            <a:ext cx="1033272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143000" y="5166360"/>
            <a:ext cx="365760" cy="365760"/>
          </a:xfrm>
          <a:prstGeom prst="roundRect">
            <a:avLst/>
          </a:prstGeom>
          <a:solidFill>
            <a:srgbClr val="2A1015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513892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3D5A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120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Unexpected Attachments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486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47D8C"/>
                </a:solidFill>
                <a:latin typeface="Calibri"/>
              </a:defRPr>
            </a:pPr>
            <a:r>
              <a:t>Files you didn't ask for, especially named "Invoice" or "Document."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3D5A"/>
                </a:solidFill>
                <a:latin typeface="Consolas"/>
              </a:defRPr>
            </a:pPr>
            <a:r>
              <a:t>WEBSITE RED FLAGS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E8EDF5"/>
                </a:solidFill>
                <a:latin typeface="Calibri"/>
              </a:defRPr>
            </a:pPr>
            <a:r>
              <a:t>How to Spot a Fake Website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43000" y="2240280"/>
            <a:ext cx="365760" cy="365760"/>
          </a:xfrm>
          <a:prstGeom prst="roundRect">
            <a:avLst/>
          </a:prstGeom>
          <a:solidFill>
            <a:srgbClr val="2A1015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21284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3D5A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2194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Misspelled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5603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47D8C"/>
                </a:solidFill>
                <a:latin typeface="Calibri"/>
              </a:defRPr>
            </a:pPr>
            <a:r>
              <a:t>"paypa1.com" instead of "paypal.com" swaps a letter for a number.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011680"/>
            <a:ext cx="484632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629400" y="2240280"/>
            <a:ext cx="365760" cy="365760"/>
          </a:xfrm>
          <a:prstGeom prst="roundRect">
            <a:avLst/>
          </a:prstGeom>
          <a:solidFill>
            <a:srgbClr val="2A1015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9400" y="221284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3D5A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1945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Missing HTTPS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56032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47D8C"/>
                </a:solidFill>
                <a:latin typeface="Calibri"/>
              </a:defRPr>
            </a:pPr>
            <a:r>
              <a:t>No padlock icon in the browser bar means the connection isn't secure.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474720"/>
            <a:ext cx="484632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1143000" y="3703320"/>
            <a:ext cx="365760" cy="365760"/>
          </a:xfrm>
          <a:prstGeom prst="roundRect">
            <a:avLst/>
          </a:prstGeom>
          <a:solidFill>
            <a:srgbClr val="2A1015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6758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3D5A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657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Design That's "Almost Right"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0233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47D8C"/>
                </a:solidFill>
                <a:latin typeface="Calibri"/>
              </a:defRPr>
            </a:pPr>
            <a:r>
              <a:t>Slightly off fonts, logos, or layout compared to the real site.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474720"/>
            <a:ext cx="484632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629400" y="3703320"/>
            <a:ext cx="365760" cy="365760"/>
          </a:xfrm>
          <a:prstGeom prst="roundRect">
            <a:avLst/>
          </a:prstGeom>
          <a:solidFill>
            <a:srgbClr val="2A1015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36758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3D5A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6576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Pressure Tactics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02336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47D8C"/>
                </a:solidFill>
                <a:latin typeface="Calibri"/>
              </a:defRPr>
            </a:pPr>
            <a:r>
              <a:t>Fake countdowns, limited-time offers, or urgent payment requests.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4937760"/>
            <a:ext cx="10332720" cy="128016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143000" y="5166360"/>
            <a:ext cx="365760" cy="365760"/>
          </a:xfrm>
          <a:prstGeom prst="roundRect">
            <a:avLst/>
          </a:prstGeom>
          <a:solidFill>
            <a:srgbClr val="2A1015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43000" y="513892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3D5A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45920" y="51206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No Way to 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45920" y="54864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747D8C"/>
                </a:solidFill>
                <a:latin typeface="Calibri"/>
              </a:defRPr>
            </a:pPr>
            <a:r>
              <a:t>No real contact details, reviews, or company history to confirm it exists.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FF"/>
                </a:solidFill>
                <a:latin typeface="Consolas"/>
              </a:defRPr>
            </a:pPr>
            <a:r>
              <a:t>THE HUMAN ANGLE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E8EDF5"/>
                </a:solidFill>
                <a:latin typeface="Calibri"/>
              </a:defRPr>
            </a:pPr>
            <a:r>
              <a:t>Social Engineering Tactics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20116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E5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EDF5"/>
                </a:solidFill>
                <a:latin typeface="Calibri"/>
              </a:defRPr>
            </a:pPr>
            <a:r>
              <a:t>Authority Impersonation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0632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47D8C"/>
                </a:solidFill>
                <a:latin typeface="Calibri"/>
              </a:defRPr>
            </a:pPr>
            <a:r>
              <a:t>Pretending to be a bank, employer, or government agency to gain instant trust.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4846320" cy="20116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E5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6060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EDF5"/>
                </a:solidFill>
                <a:latin typeface="Calibri"/>
              </a:defRPr>
            </a:pPr>
            <a:r>
              <a:t>Urgency &amp; Fear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632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47D8C"/>
                </a:solidFill>
                <a:latin typeface="Calibri"/>
              </a:defRPr>
            </a:pPr>
            <a:r>
              <a:t>Creating panic so the target reacts instead of verifying the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297680"/>
            <a:ext cx="4846320" cy="20116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526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E5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8920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EDF5"/>
                </a:solidFill>
                <a:latin typeface="Calibri"/>
              </a:defRPr>
            </a:pPr>
            <a:r>
              <a:t>Familiarity Exploitation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3492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47D8C"/>
                </a:solidFill>
                <a:latin typeface="Calibri"/>
              </a:defRPr>
            </a:pPr>
            <a:r>
              <a:t>Impersonating a friend, colleague, or a site the target already trusts.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4846320" cy="201168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0" y="4526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E5F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8920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E8EDF5"/>
                </a:solidFill>
                <a:latin typeface="Calibri"/>
              </a:defRPr>
            </a:pPr>
            <a:r>
              <a:t>Reward &amp; Curiosity Bait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34924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747D8C"/>
                </a:solidFill>
                <a:latin typeface="Calibri"/>
              </a:defRPr>
            </a:pPr>
            <a:r>
              <a:t>Fake prizes, job offers, or investments that seem too good to pass 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7315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3D5A"/>
                </a:solidFill>
                <a:latin typeface="Consolas"/>
              </a:defRPr>
            </a:pPr>
            <a:r>
              <a:t>REAL-WORLD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E8EDF5"/>
                </a:solidFill>
                <a:latin typeface="Calibri"/>
              </a:defRPr>
            </a:pPr>
            <a:r>
              <a:t>When a Site Looks Completely Legitimate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560320"/>
            <a:ext cx="9418320" cy="22860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3A15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0" y="2743200"/>
            <a:ext cx="8503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B0B8C8"/>
                </a:solidFill>
                <a:latin typeface="Calibri"/>
              </a:defRPr>
            </a:pPr>
            <a:r>
              <a:t>A young man from a village with limited internet access came across a website offering an opportunity too good to pass up. The site looked professional. He lost a significant amount of money. Afterward, he said he no longer believed the internet had anything real to offer him.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E5FF"/>
                </a:solidFill>
                <a:latin typeface="Calibri"/>
              </a:defRPr>
            </a:pPr>
            <a:r>
              <a:t>The danger isn't a lack of intelligence. It's a lack of exposure to what these attacks look like.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FF"/>
                </a:solidFill>
                <a:latin typeface="Consolas"/>
              </a:defRPr>
            </a:pPr>
            <a:r>
              <a:t>PROTECT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E8EDF5"/>
                </a:solidFill>
                <a:latin typeface="Calibri"/>
              </a:defRPr>
            </a:pPr>
            <a:r>
              <a:t>Best Practices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43000" y="2240280"/>
            <a:ext cx="320040" cy="320040"/>
          </a:xfrm>
          <a:prstGeom prst="roundRect">
            <a:avLst/>
          </a:prstGeom>
          <a:solidFill>
            <a:srgbClr val="0A1E25"/>
          </a:solidFill>
          <a:ln w="12700">
            <a:solidFill>
              <a:srgbClr val="0F2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2402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EDF5"/>
                </a:solidFill>
                <a:latin typeface="Calibri"/>
              </a:rPr>
              <a:t>Pause before clicking. </a:t>
            </a:r>
            <a:r>
              <a:rPr sz="1500" b="0">
                <a:solidFill>
                  <a:srgbClr val="747D8C"/>
                </a:solidFill>
                <a:latin typeface="Calibri"/>
              </a:rPr>
              <a:t>Urgency is a tactic. Take a moment to verify.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484632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629400" y="2240280"/>
            <a:ext cx="320040" cy="320040"/>
          </a:xfrm>
          <a:prstGeom prst="roundRect">
            <a:avLst/>
          </a:prstGeom>
          <a:solidFill>
            <a:srgbClr val="0A1E25"/>
          </a:solidFill>
          <a:ln w="12700">
            <a:solidFill>
              <a:srgbClr val="0F2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21945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22402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EDF5"/>
                </a:solidFill>
                <a:latin typeface="Calibri"/>
              </a:rPr>
              <a:t>Check the sender's actual email, </a:t>
            </a:r>
            <a:r>
              <a:rPr sz="1500" b="0">
                <a:solidFill>
                  <a:srgbClr val="747D8C"/>
                </a:solidFill>
                <a:latin typeface="Calibri"/>
              </a:rPr>
              <a:t>not just the display name.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383280"/>
            <a:ext cx="484632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143000" y="3611880"/>
            <a:ext cx="320040" cy="320040"/>
          </a:xfrm>
          <a:prstGeom prst="roundRect">
            <a:avLst/>
          </a:prstGeom>
          <a:solidFill>
            <a:srgbClr val="0A1E25"/>
          </a:solidFill>
          <a:ln w="12700">
            <a:solidFill>
              <a:srgbClr val="0F2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43000" y="35661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6118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EDF5"/>
                </a:solidFill>
                <a:latin typeface="Calibri"/>
              </a:rPr>
              <a:t>Type URLs directly </a:t>
            </a:r>
            <a:r>
              <a:rPr sz="1500" b="0">
                <a:solidFill>
                  <a:srgbClr val="747D8C"/>
                </a:solidFill>
                <a:latin typeface="Calibri"/>
              </a:rPr>
              <a:t>instead of clicking links in messages.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3383280"/>
            <a:ext cx="484632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629400" y="3611880"/>
            <a:ext cx="320040" cy="320040"/>
          </a:xfrm>
          <a:prstGeom prst="roundRect">
            <a:avLst/>
          </a:prstGeom>
          <a:solidFill>
            <a:srgbClr val="0A1E25"/>
          </a:solidFill>
          <a:ln w="12700">
            <a:solidFill>
              <a:srgbClr val="0F2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35661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6118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EDF5"/>
                </a:solidFill>
                <a:latin typeface="Calibri"/>
              </a:rPr>
              <a:t>Look for HTTPS </a:t>
            </a:r>
            <a:r>
              <a:rPr sz="1500" b="0">
                <a:solidFill>
                  <a:srgbClr val="747D8C"/>
                </a:solidFill>
                <a:latin typeface="Calibri"/>
              </a:rPr>
              <a:t>and a valid padlock before entering personal info.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754880"/>
            <a:ext cx="484632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143000" y="4983480"/>
            <a:ext cx="320040" cy="320040"/>
          </a:xfrm>
          <a:prstGeom prst="roundRect">
            <a:avLst/>
          </a:prstGeom>
          <a:solidFill>
            <a:srgbClr val="0A1E25"/>
          </a:solidFill>
          <a:ln w="12700">
            <a:solidFill>
              <a:srgbClr val="0F2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43000" y="49377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49834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EDF5"/>
                </a:solidFill>
                <a:latin typeface="Calibri"/>
              </a:rPr>
              <a:t>Never share passwords or OTPs </a:t>
            </a:r>
            <a:r>
              <a:rPr sz="1500" b="0">
                <a:solidFill>
                  <a:srgbClr val="747D8C"/>
                </a:solidFill>
                <a:latin typeface="Calibri"/>
              </a:rPr>
              <a:t>through email, text, or phone.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754880"/>
            <a:ext cx="4846320" cy="118872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29400" y="4983480"/>
            <a:ext cx="320040" cy="320040"/>
          </a:xfrm>
          <a:prstGeom prst="roundRect">
            <a:avLst/>
          </a:prstGeom>
          <a:solidFill>
            <a:srgbClr val="0A1E25"/>
          </a:solidFill>
          <a:ln w="12700">
            <a:solidFill>
              <a:srgbClr val="0F2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493776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E5FF"/>
                </a:solidFill>
              </a:defRPr>
            </a:pPr>
            <a: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6600" y="498348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8EDF5"/>
                </a:solidFill>
                <a:latin typeface="Calibri"/>
              </a:rPr>
              <a:t>When in doubt, contact directly </a:t>
            </a:r>
            <a:r>
              <a:rPr sz="1500" b="0">
                <a:solidFill>
                  <a:srgbClr val="747D8C"/>
                </a:solidFill>
                <a:latin typeface="Calibri"/>
              </a:rPr>
              <a:t>using a number you already trust.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548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FF"/>
                </a:solidFill>
                <a:latin typeface="Consolas"/>
              </a:defRPr>
            </a:pPr>
            <a:r>
              <a:t>TEST YOURSELF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4200" b="1">
                <a:solidFill>
                  <a:srgbClr val="E8EDF5"/>
                </a:solidFill>
                <a:latin typeface="Calibri"/>
              </a:defRPr>
            </a:pPr>
            <a:r>
              <a:t>Spot the Red Flags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32720" cy="1371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88720" y="21945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E5FF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21488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"Your account will be suspended in 1 hour. Click here now."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697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E5FF"/>
                </a:solidFill>
                <a:latin typeface="Consolas"/>
              </a:defRPr>
            </a:pPr>
            <a:r>
              <a:t>→ Artificial urgency designed to stop you from thinking it through.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566160"/>
            <a:ext cx="10332720" cy="1371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7490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E5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703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A website URL reads "amaz0n-support.net"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42519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E5FF"/>
                </a:solidFill>
                <a:latin typeface="Consolas"/>
              </a:defRPr>
            </a:pPr>
            <a:r>
              <a:t>→ A misspelled, unofficial domain impersonating a real brand.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120640"/>
            <a:ext cx="10332720" cy="1371600"/>
          </a:xfrm>
          <a:prstGeom prst="roundRect">
            <a:avLst/>
          </a:prstGeom>
          <a:solidFill>
            <a:srgbClr val="121724"/>
          </a:solidFill>
          <a:ln w="12700">
            <a:solidFill>
              <a:srgbClr val="1A2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E5FF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5257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E8EDF5"/>
                </a:solidFill>
                <a:latin typeface="Calibri"/>
              </a:defRPr>
            </a:pPr>
            <a:r>
              <a:t>A caller claims to be your bank and asks for your OTP.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806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E5FF"/>
                </a:solidFill>
                <a:latin typeface="Consolas"/>
              </a:defRPr>
            </a:pPr>
            <a:r>
              <a:t>→ Never share an OTP over the phone. Hang up and call your bank directly.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E5FF"/>
                </a:solidFill>
                <a:latin typeface="Consolas"/>
              </a:defRPr>
            </a:pPr>
            <a:r>
              <a:t>STAY VIGILANT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dirty="0">
                <a:solidFill>
                  <a:srgbClr val="E8EDF5"/>
                </a:solidFill>
                <a:latin typeface="Calibri"/>
              </a:rPr>
              <a:t>Awareness Is the
</a:t>
            </a:r>
            <a:r>
              <a:rPr sz="5600" b="1" dirty="0">
                <a:solidFill>
                  <a:srgbClr val="00E5FF"/>
                </a:solidFill>
                <a:latin typeface="Calibri"/>
              </a:rPr>
              <a:t>First Line of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47D8C"/>
                </a:solidFill>
                <a:latin typeface="Calibri"/>
              </a:defRPr>
            </a:pPr>
            <a:r>
              <a:t>Thank you for completing this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007280"/>
                </a:solidFill>
                <a:latin typeface="Consolas"/>
              </a:defRPr>
            </a:pPr>
            <a:r>
              <a:t>Reindolf Kwame Adusei Appiah · CodeAlpha Cyber Security Internship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12280"/>
            <a:ext cx="12191695" cy="381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624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REINDOLF</dc:creator>
  <cp:keywords/>
  <dc:description>generated using python-pptx</dc:description>
  <cp:lastModifiedBy>reindolf appiah</cp:lastModifiedBy>
  <cp:revision>1</cp:revision>
  <dcterms:created xsi:type="dcterms:W3CDTF">2013-01-27T09:14:16Z</dcterms:created>
  <dcterms:modified xsi:type="dcterms:W3CDTF">2026-09-29T22:41:54Z</dcterms:modified>
  <cp:category/>
</cp:coreProperties>
</file>